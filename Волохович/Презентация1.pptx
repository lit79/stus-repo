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4622" autoAdjust="0"/>
  </p:normalViewPr>
  <p:slideViewPr>
    <p:cSldViewPr>
      <p:cViewPr varScale="1">
        <p:scale>
          <a:sx n="110" d="100"/>
          <a:sy n="110" d="100"/>
        </p:scale>
        <p:origin x="-177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14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684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21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095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02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79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91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92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63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02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7DC26-5B74-4682-B7BD-54E6A518EAD4}" type="datetimeFigureOut">
              <a:rPr lang="ru-RU" smtClean="0"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CFE9C-826E-498F-8EB9-406FDBB40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57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ÐÐ°ÑÑÐ¸Ð½ÐºÐ¸ Ð¿Ð¾ Ð·Ð°Ð¿ÑÐ¾ÑÑ ÑÐ¸ÑÐ°Ð¹Ð¼Ð¾ Ð²Ð¸ÑÑÐ¸ ÑÑÑÑÐ° Ð²Ð°ÑÐ¸Ð»Ñ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553" y="0"/>
            <a:ext cx="9922027" cy="70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69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4499992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u-RU" b="1" i="1" dirty="0"/>
              <a:t>і збірки “ЗИМОВІ ДЕРЕВА” (1970)</a:t>
            </a:r>
            <a:endParaRPr lang="ru-RU" b="1" dirty="0"/>
          </a:p>
          <a:p>
            <a:pPr fontAlgn="base"/>
            <a:r>
              <a:rPr lang="ru-RU" sz="2000" b="1" dirty="0" smtClean="0">
                <a:solidFill>
                  <a:srgbClr val="7030A0"/>
                </a:solidFill>
              </a:rPr>
              <a:t>Безсонної ночі </a:t>
            </a:r>
            <a:r>
              <a:rPr lang="ru-RU" sz="2000" b="1" dirty="0" smtClean="0">
                <a:solidFill>
                  <a:srgbClr val="7030A0"/>
                </a:solidFill>
              </a:rPr>
              <a:t>З дитячих спогадів</a:t>
            </a:r>
            <a:endParaRPr lang="ru-RU" sz="2000" b="1" dirty="0" smtClean="0">
              <a:solidFill>
                <a:srgbClr val="7030A0"/>
              </a:solidFill>
            </a:endParaRPr>
          </a:p>
          <a:p>
            <a:pPr fontAlgn="base"/>
            <a:r>
              <a:rPr lang="ru-RU" sz="2000" b="1" dirty="0" smtClean="0">
                <a:solidFill>
                  <a:srgbClr val="7030A0"/>
                </a:solidFill>
              </a:rPr>
              <a:t>“Отак живу: як мавпа серед </a:t>
            </a:r>
            <a:r>
              <a:rPr lang="ru-RU" sz="2000" b="1" dirty="0" smtClean="0">
                <a:solidFill>
                  <a:srgbClr val="7030A0"/>
                </a:solidFill>
              </a:rPr>
              <a:t>мавп…”</a:t>
            </a:r>
          </a:p>
          <a:p>
            <a:pPr fontAlgn="base"/>
            <a:r>
              <a:rPr lang="ru-RU" sz="2000" b="1" dirty="0" smtClean="0">
                <a:solidFill>
                  <a:srgbClr val="7030A0"/>
                </a:solidFill>
              </a:rPr>
              <a:t>“Даруйте радощі мої…”</a:t>
            </a:r>
          </a:p>
          <a:p>
            <a:pPr fontAlgn="base"/>
            <a:r>
              <a:rPr lang="ru-RU" sz="2000" b="1" dirty="0" smtClean="0">
                <a:solidFill>
                  <a:srgbClr val="7030A0"/>
                </a:solidFill>
              </a:rPr>
              <a:t>Костомаров у саратові</a:t>
            </a:r>
          </a:p>
          <a:p>
            <a:pPr fontAlgn="base"/>
            <a:r>
              <a:rPr lang="ru-RU" sz="2000" b="1" dirty="0" smtClean="0">
                <a:solidFill>
                  <a:srgbClr val="7030A0"/>
                </a:solidFill>
              </a:rPr>
              <a:t>“Сто років як сконала січ…”</a:t>
            </a:r>
          </a:p>
          <a:p>
            <a:pPr fontAlgn="base"/>
            <a:r>
              <a:rPr lang="ru-RU" sz="2000" b="1" dirty="0" smtClean="0">
                <a:solidFill>
                  <a:srgbClr val="7030A0"/>
                </a:solidFill>
              </a:rPr>
              <a:t>Дума сковороди</a:t>
            </a:r>
          </a:p>
          <a:p>
            <a:pPr fontAlgn="base"/>
            <a:r>
              <a:rPr lang="ru-RU" sz="2000" b="1" dirty="0" smtClean="0">
                <a:solidFill>
                  <a:srgbClr val="7030A0"/>
                </a:solidFill>
              </a:rPr>
              <a:t>“Море — чорна грудка печалі…”</a:t>
            </a:r>
          </a:p>
          <a:p>
            <a:pPr fontAlgn="base"/>
            <a:r>
              <a:rPr lang="ru-RU" sz="2000" b="1" dirty="0" smtClean="0">
                <a:solidFill>
                  <a:srgbClr val="7030A0"/>
                </a:solidFill>
              </a:rPr>
              <a:t>“Звіром вити, горілку пити…”</a:t>
            </a:r>
            <a:endParaRPr lang="ru-RU" sz="2000" b="1" dirty="0">
              <a:solidFill>
                <a:srgbClr val="7030A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19872" y="3284984"/>
            <a:ext cx="575736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u-RU" b="1" i="1" dirty="0"/>
              <a:t>Зі збірки “ПАЛІМПСЕСТИ” (1986)</a:t>
            </a:r>
            <a:endParaRPr lang="ru-RU" b="1" dirty="0"/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“На однакові квадрати поділили білий світ…”</a:t>
            </a: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“Мертвий сон галактик як не здушить нас…”</a:t>
            </a: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“Колимські закували зозулі…”</a:t>
            </a: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“Уже Софія відструменіла…”</a:t>
            </a: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“Весь обшир мій – чотири на чотири…”</a:t>
            </a: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“Тюремних вечорів смертельні алкоголі…”</a:t>
            </a: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“Присмеркові сутінки опали…”</a:t>
            </a: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“На колимськім морозі калина…”</a:t>
            </a: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“На Колимі запахло чебрецем…”</a:t>
            </a: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“Терпи, терпи – терпець тебе шліфує…”</a:t>
            </a: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Автопортрет зі свічкою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18566"/>
            <a:ext cx="3419475" cy="2748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ÐÐ°ÑÑÐ¸Ð½ÐºÐ¸ Ð¿Ð¾ Ð·Ð°Ð¿ÑÐ¾ÑÑ Ð¡ÑÑÑ ÐÐ°ÑÐ¸Ð»Ñ ÐÐ°Ð»ÑÐ¼Ð¿ÑÐµÑÑÐ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38069"/>
            <a:ext cx="2864609" cy="3719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18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4572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ru-RU" b="1" i="1" dirty="0"/>
              <a:t>Зі збірки “ЧАС ТВОРЧОСТІ” (1972)</a:t>
            </a:r>
            <a:endParaRPr lang="ru-RU" b="1" dirty="0"/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“Напевне, так і треба…”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“Як добре те, що смерті не боюсь я…”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“Вже цілий тиждень обживаю хату…”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“Ще й до жнив не дожив…”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“Моє перелицьоване пальто…”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“Господи, гніву пречистого…”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“О, скільки слів, неначе поторочі!..”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“Мов лебединя, розкрилила…”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“Вік би не бачити й не чуть…”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“Навкруг обрізано жалі…”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“Невже ти народився, чоловіче…”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“Будні тут тобі про свято…”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“Б’ється серце, як пташа німе…”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“То як тобі пенати?..”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“Пірнаю в ночі, наче в сни…”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“За шибами туркочуть голуби…”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“П’ючи біду, неначе оковиту…”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“Цей спертий запах смерти, наче спирт…”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“Танцює зек у батькових чоботях…”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“Так тонко-тонко сни мене вели…”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“Церква святої Ірини…”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Шевченко. Дорога до Орська</a:t>
            </a:r>
          </a:p>
          <a:p>
            <a:pPr fontAlgn="base"/>
            <a:r>
              <a:rPr lang="ru-RU" b="1" dirty="0" smtClean="0">
                <a:solidFill>
                  <a:srgbClr val="7030A0"/>
                </a:solidFill>
              </a:rPr>
              <a:t>“Де свінула Софія світанкова…”</a:t>
            </a:r>
            <a:endParaRPr lang="ru-RU" b="1" dirty="0">
              <a:solidFill>
                <a:srgbClr val="7030A0"/>
              </a:solidFill>
            </a:endParaRPr>
          </a:p>
        </p:txBody>
      </p:sp>
      <p:pic>
        <p:nvPicPr>
          <p:cNvPr id="3074" name="Picture 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980728"/>
            <a:ext cx="4572000" cy="4633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90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72841" y="0"/>
            <a:ext cx="3960440" cy="723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u-RU" sz="1600" b="1" i="1" dirty="0"/>
              <a:t>“ВЕСЕЛИЙ ЦВИНТАР” (1971)</a:t>
            </a:r>
            <a:endParaRPr lang="ru-RU" sz="1600" b="1" dirty="0"/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Над ос</a:t>
            </a:r>
            <a:r>
              <a:rPr lang="en-US" sz="1600" b="1" dirty="0" err="1">
                <a:solidFill>
                  <a:srgbClr val="7030A0"/>
                </a:solidFill>
              </a:rPr>
              <a:t>i</a:t>
            </a:r>
            <a:r>
              <a:rPr lang="ru-RU" sz="1600" b="1" dirty="0" err="1">
                <a:solidFill>
                  <a:srgbClr val="7030A0"/>
                </a:solidFill>
              </a:rPr>
              <a:t>нн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м озером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</a:t>
            </a:r>
            <a:r>
              <a:rPr lang="ru-RU" sz="1600" b="1" dirty="0" smtClean="0">
                <a:solidFill>
                  <a:srgbClr val="7030A0"/>
                </a:solidFill>
              </a:rPr>
              <a:t>Мені</a:t>
            </a:r>
            <a:r>
              <a:rPr lang="en-US" sz="1600" b="1" dirty="0" smtClean="0">
                <a:solidFill>
                  <a:srgbClr val="7030A0"/>
                </a:solidFill>
              </a:rPr>
              <a:t> </a:t>
            </a:r>
            <a:r>
              <a:rPr lang="ru-RU" sz="1600" b="1" dirty="0">
                <a:solidFill>
                  <a:srgbClr val="7030A0"/>
                </a:solidFill>
              </a:rPr>
              <a:t>здається, що живу не я…”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“Пор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дшала земна тужава твердь…”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“Б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ля метро “Хрещатик”…”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“Посадити деревце…”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“Їх було двоє – прибиральниця </a:t>
            </a:r>
            <a:r>
              <a:rPr lang="en-US" sz="1600" b="1" dirty="0">
                <a:solidFill>
                  <a:srgbClr val="7030A0"/>
                </a:solidFill>
              </a:rPr>
              <a:t>i </a:t>
            </a:r>
            <a:r>
              <a:rPr lang="ru-RU" sz="1600" b="1" dirty="0">
                <a:solidFill>
                  <a:srgbClr val="7030A0"/>
                </a:solidFill>
              </a:rPr>
              <a:t>дв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рник…”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“Тато молиться богу…”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“На Лис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й гор</a:t>
            </a:r>
            <a:r>
              <a:rPr lang="en-US" sz="1600" b="1" dirty="0">
                <a:solidFill>
                  <a:srgbClr val="7030A0"/>
                </a:solidFill>
              </a:rPr>
              <a:t>i </a:t>
            </a:r>
            <a:r>
              <a:rPr lang="ru-RU" sz="1600" b="1" dirty="0">
                <a:solidFill>
                  <a:srgbClr val="7030A0"/>
                </a:solidFill>
              </a:rPr>
              <a:t>догоряє багаття н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чне…”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“В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длюбилося…”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Мум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я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“Ось вам сонце, сказав…”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“Я йшов за труною товариша й думав…”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Пам’яті А.Г.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</a:t>
            </a:r>
            <a:r>
              <a:rPr lang="ru-RU" sz="1600" b="1" dirty="0" smtClean="0">
                <a:solidFill>
                  <a:srgbClr val="7030A0"/>
                </a:solidFill>
              </a:rPr>
              <a:t>Попере ду</a:t>
            </a:r>
            <a:r>
              <a:rPr lang="ru-RU" sz="1600" b="1" dirty="0">
                <a:solidFill>
                  <a:srgbClr val="7030A0"/>
                </a:solidFill>
              </a:rPr>
              <a:t>, нарешт</a:t>
            </a:r>
            <a:r>
              <a:rPr lang="en-US" sz="1600" b="1" dirty="0">
                <a:solidFill>
                  <a:srgbClr val="7030A0"/>
                </a:solidFill>
              </a:rPr>
              <a:t>i, </a:t>
            </a:r>
            <a:r>
              <a:rPr lang="ru-RU" sz="1600" b="1" dirty="0">
                <a:solidFill>
                  <a:srgbClr val="7030A0"/>
                </a:solidFill>
              </a:rPr>
              <a:t>порожнеча…”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“Вони сидять за столом…”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“Сповнений почуття вдячност</a:t>
            </a:r>
            <a:r>
              <a:rPr lang="en-US" sz="1600" b="1" dirty="0">
                <a:solidFill>
                  <a:srgbClr val="7030A0"/>
                </a:solidFill>
              </a:rPr>
              <a:t>i…”</a:t>
            </a:r>
            <a:endParaRPr lang="en-US" sz="1600" dirty="0">
              <a:solidFill>
                <a:srgbClr val="7030A0"/>
              </a:solidFill>
            </a:endParaRPr>
          </a:p>
          <a:p>
            <a:pPr fontAlgn="base"/>
            <a:r>
              <a:rPr lang="en-US" sz="1600" b="1" dirty="0">
                <a:solidFill>
                  <a:srgbClr val="7030A0"/>
                </a:solidFill>
              </a:rPr>
              <a:t>“</a:t>
            </a:r>
            <a:r>
              <a:rPr lang="ru-RU" sz="1600" b="1" dirty="0">
                <a:solidFill>
                  <a:srgbClr val="7030A0"/>
                </a:solidFill>
              </a:rPr>
              <a:t>Я знав майже напевно…”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Пам’ят</a:t>
            </a:r>
            <a:r>
              <a:rPr lang="en-US" sz="1600" b="1" dirty="0">
                <a:solidFill>
                  <a:srgbClr val="7030A0"/>
                </a:solidFill>
              </a:rPr>
              <a:t>i </a:t>
            </a:r>
            <a:r>
              <a:rPr lang="ru-RU" sz="1600" b="1" dirty="0">
                <a:solidFill>
                  <a:srgbClr val="7030A0"/>
                </a:solidFill>
              </a:rPr>
              <a:t>М.К. Зерова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“Так </a:t>
            </a:r>
            <a:r>
              <a:rPr lang="ru-RU" sz="1600" b="1" dirty="0" smtClean="0">
                <a:solidFill>
                  <a:srgbClr val="7030A0"/>
                </a:solidFill>
              </a:rPr>
              <a:t>явно </a:t>
            </a:r>
            <a:r>
              <a:rPr lang="ru-RU" sz="1600" b="1" dirty="0">
                <a:solidFill>
                  <a:srgbClr val="7030A0"/>
                </a:solidFill>
              </a:rPr>
              <a:t>св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т тоб</a:t>
            </a:r>
            <a:r>
              <a:rPr lang="en-US" sz="1600" b="1" dirty="0">
                <a:solidFill>
                  <a:srgbClr val="7030A0"/>
                </a:solidFill>
              </a:rPr>
              <a:t>i </a:t>
            </a:r>
            <a:r>
              <a:rPr lang="ru-RU" sz="1600" b="1" dirty="0">
                <a:solidFill>
                  <a:srgbClr val="7030A0"/>
                </a:solidFill>
              </a:rPr>
              <a:t>належать став…”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“Ця п’єса почалася вже давно…”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“Змагай, знеможений життям…”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“Мов жертва щирост</a:t>
            </a:r>
            <a:r>
              <a:rPr lang="en-US" sz="1600" b="1" dirty="0">
                <a:solidFill>
                  <a:srgbClr val="7030A0"/>
                </a:solidFill>
              </a:rPr>
              <a:t>i – </a:t>
            </a:r>
            <a:r>
              <a:rPr lang="ru-RU" sz="1600" b="1" dirty="0">
                <a:solidFill>
                  <a:srgbClr val="7030A0"/>
                </a:solidFill>
              </a:rPr>
              <a:t>життя…”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“У тридцять л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т ти т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льки народився…”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“Людина флюгер. Так. Людина флюгер…”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“Вмирає п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зно чолов</a:t>
            </a:r>
            <a:r>
              <a:rPr lang="en-US" sz="1600" b="1" dirty="0">
                <a:solidFill>
                  <a:srgbClr val="7030A0"/>
                </a:solidFill>
              </a:rPr>
              <a:t>i</a:t>
            </a:r>
            <a:r>
              <a:rPr lang="ru-RU" sz="1600" b="1" dirty="0">
                <a:solidFill>
                  <a:srgbClr val="7030A0"/>
                </a:solidFill>
              </a:rPr>
              <a:t>к…”</a:t>
            </a:r>
            <a:endParaRPr lang="ru-RU" sz="1600" dirty="0">
              <a:solidFill>
                <a:srgbClr val="7030A0"/>
              </a:solidFill>
            </a:endParaRPr>
          </a:p>
          <a:p>
            <a:pPr fontAlgn="base"/>
            <a:r>
              <a:rPr lang="ru-RU" sz="1600" b="1" dirty="0">
                <a:solidFill>
                  <a:srgbClr val="7030A0"/>
                </a:solidFill>
              </a:rPr>
              <a:t>Вертання</a:t>
            </a:r>
            <a:endParaRPr lang="ru-RU" sz="1600" dirty="0">
              <a:solidFill>
                <a:srgbClr val="7030A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436096" y="0"/>
            <a:ext cx="3707904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u-RU" b="1" dirty="0">
                <a:solidFill>
                  <a:srgbClr val="7030A0"/>
                </a:solidFill>
              </a:rPr>
              <a:t>“– Надворі дощ? – я запитав…”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“Ми сиділи за пляшкою шампанського…”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“Вперіодрозгорнутогобудівни…”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“Вночі його кусали блохи…”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“День величався і пишався…”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“– Досить крові, – продекламував кат…”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“Сто дзеркал спрямовано на мене…”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“Націлений у небо обеліск…”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“Я блукав містом </a:t>
            </a:r>
            <a:r>
              <a:rPr lang="ru-RU" b="1" dirty="0" smtClean="0">
                <a:solidFill>
                  <a:srgbClr val="7030A0"/>
                </a:solidFill>
              </a:rPr>
              <a:t>своєї </a:t>
            </a:r>
            <a:r>
              <a:rPr lang="ru-RU" b="1" dirty="0">
                <a:solidFill>
                  <a:srgbClr val="7030A0"/>
                </a:solidFill>
              </a:rPr>
              <a:t>юності…”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“В мені уже народжується бог…”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“I поблизу – радянський сад…”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“Зазираю в завтра – тьма і тьмуща…”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“Людям, рокованим на смерть…”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“Дівчина довгошия, мов сарна…”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“Три скелети сидять за кавою…”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“З білої потойбічності…”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“Вміння бути циніком…”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Еволюція поета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Перевиховання</a:t>
            </a:r>
            <a:endParaRPr lang="ru-RU" dirty="0">
              <a:solidFill>
                <a:srgbClr val="7030A0"/>
              </a:solidFill>
            </a:endParaRPr>
          </a:p>
          <a:p>
            <a:pPr fontAlgn="base"/>
            <a:r>
              <a:rPr lang="ru-RU" b="1" dirty="0">
                <a:solidFill>
                  <a:srgbClr val="7030A0"/>
                </a:solidFill>
              </a:rPr>
              <a:t>Виховання</a:t>
            </a:r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4100" name="Picture 4" descr="ÐÐ°ÑÑÐ¸Ð½ÐºÐ¸ Ð¿Ð¾ Ð·Ð°Ð¿ÑÐ¾ÑÑ Ð¡ÑÑÑ ÐÐ°ÑÐ¸Ð»Ñ Ð·Ð±ÑÑÐºÐ° ÐÐµÑÐµÐ»ÑÐ¹ ÑÐ²ÑÐ½ÑÐ°Ñ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69793"/>
            <a:ext cx="1572841" cy="293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632536"/>
            <a:ext cx="2056805" cy="205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09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31058" y="1916832"/>
            <a:ext cx="52920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u-RU" sz="2400" b="1" i="1" dirty="0"/>
              <a:t>Зі збірки “КРУГОВЕРТЬ”</a:t>
            </a:r>
            <a:endParaRPr lang="ru-RU" sz="2400" b="1" dirty="0"/>
          </a:p>
          <a:p>
            <a:pPr fontAlgn="base"/>
            <a:r>
              <a:rPr lang="ru-RU" sz="2400" b="1" dirty="0">
                <a:solidFill>
                  <a:srgbClr val="7030A0"/>
                </a:solidFill>
              </a:rPr>
              <a:t>“Вхопився обома руками…”</a:t>
            </a:r>
            <a:endParaRPr lang="ru-RU" sz="2400" dirty="0">
              <a:solidFill>
                <a:srgbClr val="7030A0"/>
              </a:solidFill>
            </a:endParaRPr>
          </a:p>
          <a:p>
            <a:pPr fontAlgn="base"/>
            <a:r>
              <a:rPr lang="ru-RU" sz="2400" b="1" dirty="0">
                <a:solidFill>
                  <a:srgbClr val="7030A0"/>
                </a:solidFill>
              </a:rPr>
              <a:t>Світанок у лісі</a:t>
            </a:r>
            <a:endParaRPr lang="ru-RU" sz="2400" dirty="0">
              <a:solidFill>
                <a:srgbClr val="7030A0"/>
              </a:solidFill>
            </a:endParaRPr>
          </a:p>
          <a:p>
            <a:pPr fontAlgn="base"/>
            <a:r>
              <a:rPr lang="ru-RU" sz="2400" b="1" dirty="0">
                <a:solidFill>
                  <a:srgbClr val="7030A0"/>
                </a:solidFill>
              </a:rPr>
              <a:t>“Коли на землю спадає тиша…”</a:t>
            </a:r>
            <a:endParaRPr lang="ru-RU" sz="2400" dirty="0">
              <a:solidFill>
                <a:srgbClr val="7030A0"/>
              </a:solidFill>
            </a:endParaRPr>
          </a:p>
        </p:txBody>
      </p:sp>
      <p:pic>
        <p:nvPicPr>
          <p:cNvPr id="5124" name="Picture 4" descr="ÐÐ°ÑÑÐ¸Ð½ÐºÐ¸ Ð¿Ð¾ Ð·Ð°Ð¿ÑÐ¾ÑÑ Ð¡ÑÑÑ ÐÐ°ÑÐ¸Ð»Ñ Ð·Ð±ÑÑÐºÐ° ÐÑÑÐ³Ð¾Ð²ÐµÑÑÑ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-1"/>
            <a:ext cx="4248472" cy="6797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839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634</Words>
  <Application>Microsoft Office PowerPoint</Application>
  <PresentationFormat>Экран (4:3)</PresentationFormat>
  <Paragraphs>96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4</cp:revision>
  <dcterms:created xsi:type="dcterms:W3CDTF">2018-11-20T15:30:50Z</dcterms:created>
  <dcterms:modified xsi:type="dcterms:W3CDTF">2018-11-20T16:08:31Z</dcterms:modified>
</cp:coreProperties>
</file>